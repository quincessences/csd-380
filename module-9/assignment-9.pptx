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81" r:id="rId7"/>
    <p:sldId id="286" r:id="rId8"/>
    <p:sldId id="293" r:id="rId9"/>
    <p:sldId id="288" r:id="rId10"/>
    <p:sldId id="289" r:id="rId11"/>
    <p:sldId id="294" r:id="rId12"/>
    <p:sldId id="29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0655" autoAdjust="0"/>
  </p:normalViewPr>
  <p:slideViewPr>
    <p:cSldViewPr snapToGrid="0">
      <p:cViewPr varScale="1">
        <p:scale>
          <a:sx n="136" d="100"/>
          <a:sy n="136" d="100"/>
        </p:scale>
        <p:origin x="1188" y="342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630BB-8196-449E-322B-681753E88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A89CF2-05AD-9512-3DEB-60D36FA6D3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352B9B-D5E3-C8F1-AFF1-EE4E7EA3AB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49DE61-E72E-2712-DF2D-1FACDBCD4A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1437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C7B56-856B-6658-C233-105F6FEB1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567C44-02CA-9FE9-2B75-26550C935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0E6AF1-A1EA-BBB1-7BE4-BDE8A11A9C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BC438F-9A3F-049B-2D9A-1B0FE93F3F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6328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6A1A2-BE94-6812-51B6-F73ACFB76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AEE2E-DD50-32AC-6E57-12FEA2BD87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2CCD5F-A439-78FF-A30C-1A5C8B0E7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DF613-D182-25F6-90AC-CD0249AA1A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4363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25100-741F-6207-FBC1-B1F04DAEC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8BF5FC-9087-F0D0-DA6E-A1943F3F52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DA9E62-E6C2-E5C9-8500-1DBEB0C68A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853D1-78CF-7204-25D8-E8B399A5B1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6362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9EBCA-B317-0334-6933-BED0880C2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F3F47C-1C0B-E7D9-F049-1419257A7D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DA2BFD-843A-1886-9CE5-B32AF816F5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8969B-F6C8-8E9D-7D80-78BC4B50A2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5003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F1811-1B6F-A312-CA1E-52A8EDC6A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022AAA-CA34-F619-FED2-F4065F0EFE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89872B-5767-9980-1734-8E985C7ADD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644BC-B883-4492-AE02-E3870AD85D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187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evops.com/how-sre-creates-a-blameless-culture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atlassian.com/blog/teamwork/how-to-cultivate-a-blameless-culture" TargetMode="External"/><Relationship Id="rId4" Type="http://schemas.openxmlformats.org/officeDocument/2006/relationships/hyperlink" Target="https://www.atlassian.com/devops/what-is-devops/devops-cultur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4941771" cy="3200400"/>
          </a:xfrm>
        </p:spPr>
        <p:txBody>
          <a:bodyPr anchor="ctr"/>
          <a:lstStyle/>
          <a:p>
            <a:r>
              <a:rPr lang="en-US" dirty="0"/>
              <a:t>Module 9</a:t>
            </a:r>
            <a:br>
              <a:rPr lang="en-US" dirty="0"/>
            </a:br>
            <a:r>
              <a:rPr lang="en-US" sz="1100" dirty="0"/>
              <a:t>M. Q. Michaels</a:t>
            </a:r>
            <a:br>
              <a:rPr lang="en-US" sz="1100" dirty="0"/>
            </a:br>
            <a:r>
              <a:rPr lang="en-US" sz="1100" dirty="0"/>
              <a:t>Dr. Toni Farley</a:t>
            </a:r>
            <a:br>
              <a:rPr lang="en-US" sz="1100" dirty="0"/>
            </a:br>
            <a:r>
              <a:rPr lang="en-US" sz="1100" dirty="0"/>
              <a:t>CSD-380</a:t>
            </a:r>
            <a:br>
              <a:rPr lang="en-US" sz="1100" dirty="0"/>
            </a:br>
            <a:r>
              <a:rPr lang="en-US" sz="1100" dirty="0"/>
              <a:t>Bellevue University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/>
          <a:lstStyle/>
          <a:p>
            <a:r>
              <a:rPr lang="en-US" dirty="0" err="1"/>
              <a:t>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674013"/>
            <a:ext cx="2895600" cy="326958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Just Culture in DevOps</a:t>
            </a:r>
          </a:p>
          <a:p>
            <a:r>
              <a:rPr lang="en-US" dirty="0"/>
              <a:t>Why it matters</a:t>
            </a:r>
          </a:p>
          <a:p>
            <a:r>
              <a:rPr lang="en-US" dirty="0"/>
              <a:t>Organizational barriers</a:t>
            </a:r>
          </a:p>
          <a:p>
            <a:r>
              <a:rPr lang="en-US" dirty="0"/>
              <a:t>Cultural barriers</a:t>
            </a:r>
          </a:p>
          <a:p>
            <a:r>
              <a:rPr lang="en-US" dirty="0"/>
              <a:t>Technical barriers</a:t>
            </a:r>
          </a:p>
          <a:p>
            <a:r>
              <a:rPr lang="en-US" dirty="0"/>
              <a:t>Leadership challenges</a:t>
            </a:r>
          </a:p>
          <a:p>
            <a:r>
              <a:rPr lang="en-US" dirty="0"/>
              <a:t>Key takeaways</a:t>
            </a:r>
          </a:p>
          <a:p>
            <a:r>
              <a:rPr lang="en-US" dirty="0"/>
              <a:t>References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2E6A-35EC-1B8E-0FD7-8C67870A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1780860"/>
          </a:xfrm>
        </p:spPr>
        <p:txBody>
          <a:bodyPr/>
          <a:lstStyle/>
          <a:p>
            <a:r>
              <a:rPr lang="en-US" dirty="0"/>
              <a:t>What Is Just Culture in DevOps?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EDBE6233-75E9-40D1-968F-58CA9AD0FF5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857500" y="2735953"/>
            <a:ext cx="8496300" cy="3234264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Promotes blameless feedback and review processes focusing on systems and learning rather than blaming individual contributors</a:t>
            </a:r>
          </a:p>
          <a:p>
            <a:pPr lvl="1"/>
            <a:r>
              <a:rPr lang="en-US" dirty="0"/>
              <a:t>Ties in with emotional safety and continuous improvement</a:t>
            </a:r>
          </a:p>
          <a:p>
            <a:pPr lvl="1"/>
            <a:r>
              <a:rPr lang="en-US" dirty="0"/>
              <a:t>Encourages open reporting of incidents without fear of retaliation, which is vital for org &amp; team resilience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832D8-0C38-0012-05F5-74D1CA807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94C21-CAEC-B2D7-4028-4CE9BF115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1780860"/>
          </a:xfrm>
        </p:spPr>
        <p:txBody>
          <a:bodyPr/>
          <a:lstStyle/>
          <a:p>
            <a:r>
              <a:rPr lang="en-US" dirty="0"/>
              <a:t>Why Just Culture Matters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71970E7A-5C98-2492-EF3B-3B189C3BF9EA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33700" y="2674821"/>
            <a:ext cx="8496300" cy="323426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DevOps thrives on fast feedback and cross-functional collaboration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Without safety to report errors, teams hide problems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Blame culture leads to defensive stances from the team and slows innovation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Blameless environments allow teams to focus on system weaknesses, not on individual fault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B3AE16C-E666-2D89-E821-D1ED6BF1C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28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0472E-831E-0C78-FEF6-EE33048B2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1B601-DA72-056B-8F30-295F20875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1780860"/>
          </a:xfrm>
        </p:spPr>
        <p:txBody>
          <a:bodyPr/>
          <a:lstStyle/>
          <a:p>
            <a:r>
              <a:rPr lang="en-US" dirty="0"/>
              <a:t>Organizational Barriers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BA4E2E8F-BA70-E54D-C743-1B2A44C5212B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33700" y="2555245"/>
            <a:ext cx="8496300" cy="3234264"/>
          </a:xfrm>
        </p:spPr>
        <p:txBody>
          <a:bodyPr>
            <a:normAutofit lnSpcReduction="10000"/>
          </a:bodyPr>
          <a:lstStyle/>
          <a:p>
            <a:pPr marL="569214" lvl="1"/>
            <a:r>
              <a:rPr lang="en-US" dirty="0"/>
              <a:t>Silos and communication issues</a:t>
            </a:r>
          </a:p>
          <a:p>
            <a:pPr marL="852678" lvl="2"/>
            <a:r>
              <a:rPr lang="en-US" dirty="0"/>
              <a:t>DevOps requires breaking down traditional development &amp; operations departments</a:t>
            </a:r>
          </a:p>
          <a:p>
            <a:pPr marL="852678" lvl="2"/>
            <a:r>
              <a:rPr lang="en-US" dirty="0"/>
              <a:t>Silos prevent shared understanding and teamwork</a:t>
            </a:r>
          </a:p>
          <a:p>
            <a:pPr marL="569214" lvl="1"/>
            <a:r>
              <a:rPr lang="en-US" dirty="0"/>
              <a:t>Lack of leadership support</a:t>
            </a:r>
          </a:p>
          <a:p>
            <a:pPr marL="852678" lvl="2"/>
            <a:r>
              <a:rPr lang="en-US" dirty="0"/>
              <a:t>Without leadership’s support, DevOps initiatives usually fail</a:t>
            </a:r>
          </a:p>
          <a:p>
            <a:pPr marL="569214" lvl="1"/>
            <a:r>
              <a:rPr lang="en-US" dirty="0"/>
              <a:t>Resistance from teams</a:t>
            </a:r>
          </a:p>
          <a:p>
            <a:pPr marL="852678" lvl="2"/>
            <a:r>
              <a:rPr lang="en-US" dirty="0"/>
              <a:t>Legacy roles can resist change due to fears of redundancy with automation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22650BB-C9FD-4469-D115-205D7A987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903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D0E0F-1E55-03C6-4211-61E10E1D5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6A01D-16FB-087F-3D99-796B01857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1780860"/>
          </a:xfrm>
        </p:spPr>
        <p:txBody>
          <a:bodyPr/>
          <a:lstStyle/>
          <a:p>
            <a:r>
              <a:rPr lang="en-US" dirty="0"/>
              <a:t>Cultural Barriers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7E4A82DC-775B-8736-3F55-1025F2C7578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33700" y="2555245"/>
            <a:ext cx="8496300" cy="323426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Fear of blame</a:t>
            </a:r>
          </a:p>
          <a:p>
            <a:pPr marL="569214" lvl="1"/>
            <a:r>
              <a:rPr lang="en-US" dirty="0"/>
              <a:t>People avoid reporting problems if past reactions were negative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 knowing Just Culture vs. having no </a:t>
            </a:r>
            <a:r>
              <a:rPr lang="en-US" dirty="0" err="1"/>
              <a:t>acountability</a:t>
            </a:r>
            <a:endParaRPr lang="en-US" dirty="0"/>
          </a:p>
          <a:p>
            <a:pPr marL="569214" lvl="1"/>
            <a:r>
              <a:rPr lang="en-US" dirty="0"/>
              <a:t>Just Culture can be interpreted as no consequences, leading to resistance or misuse of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Resistance to change</a:t>
            </a:r>
          </a:p>
          <a:p>
            <a:pPr marL="569214" lvl="1"/>
            <a:r>
              <a:rPr lang="en-US" dirty="0"/>
              <a:t>DevOps is a culture shift, not just a change in tools, so it requires change management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6B6C1CB-DE4A-C03E-51A4-20255A163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378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A1035-03CD-F7FF-CEE6-BC14A5115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F64F9-3846-683D-B254-9EEDBD86F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1780860"/>
          </a:xfrm>
        </p:spPr>
        <p:txBody>
          <a:bodyPr/>
          <a:lstStyle/>
          <a:p>
            <a:r>
              <a:rPr lang="en-US" dirty="0"/>
              <a:t>Technical &amp; Process Barriers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9B313F4E-0557-3647-AB2D-C6C39869C47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33700" y="2597448"/>
            <a:ext cx="8496300" cy="323426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Focusing on tools instead of collaboration</a:t>
            </a:r>
          </a:p>
          <a:p>
            <a:pPr marL="569214" lvl="1"/>
            <a:r>
              <a:rPr lang="en-US" dirty="0"/>
              <a:t>Teams often adopt DevOps tools but don’t plan to change their collaboration and teamwork so the tools aren’t useful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Lack of feedback</a:t>
            </a:r>
          </a:p>
          <a:p>
            <a:pPr marL="569214" lvl="1"/>
            <a:r>
              <a:rPr lang="en-US" dirty="0"/>
              <a:t>Without visibility, teams cannot learn effectively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Poor incident follow up and review processes</a:t>
            </a:r>
          </a:p>
          <a:p>
            <a:pPr marL="569214" lvl="1"/>
            <a:r>
              <a:rPr lang="en-US" dirty="0"/>
              <a:t>Post-mortems that focus on blame rather than causes discourage Just Culture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4C4C18D-B0AE-0731-F068-68B2C68B2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159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883AF-C729-9067-850D-48BA00758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5790F-9BC4-5498-4378-E1DDB0EAC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1780860"/>
          </a:xfrm>
        </p:spPr>
        <p:txBody>
          <a:bodyPr/>
          <a:lstStyle/>
          <a:p>
            <a:r>
              <a:rPr lang="en-US" dirty="0"/>
              <a:t>BARRIERS GRAPHIC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A37A141-E2DB-681F-CFB2-0240BEAB1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7D3DE2-E69D-7069-FB46-A01E5CF53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699" y="2449418"/>
            <a:ext cx="6692783" cy="339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343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0E2DC-D1C5-A5A4-EF3B-82E2E0D2D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52DDD-3668-16F0-358D-614D89F8C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1780860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8A4693CA-8A65-0C78-C0D3-61526EC68D3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33700" y="2597448"/>
            <a:ext cx="8496300" cy="3234264"/>
          </a:xfrm>
        </p:spPr>
        <p:txBody>
          <a:bodyPr>
            <a:normAutofit/>
          </a:bodyPr>
          <a:lstStyle/>
          <a:p>
            <a:r>
              <a:rPr lang="en-US" dirty="0">
                <a:hlinkClick r:id="rId3"/>
              </a:rPr>
              <a:t>https://devops.com/how-sre-creates-a-blameless-culture/</a:t>
            </a:r>
            <a:endParaRPr lang="en-US" dirty="0"/>
          </a:p>
          <a:p>
            <a:r>
              <a:rPr lang="en-US" dirty="0">
                <a:hlinkClick r:id="rId4"/>
              </a:rPr>
              <a:t>https://www.atlassian.com/devops/what-is-devops/devops-culture</a:t>
            </a:r>
            <a:endParaRPr lang="en-US" dirty="0"/>
          </a:p>
          <a:p>
            <a:r>
              <a:rPr lang="en-US" dirty="0">
                <a:hlinkClick r:id="rId5"/>
              </a:rPr>
              <a:t>https://www.atlassian.com/blog/teamwork/how-to-cultivate-a-blameless-culture</a:t>
            </a:r>
            <a:endParaRPr lang="en-US" dirty="0"/>
          </a:p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96F84A-2818-2CC2-D6E9-1C2B12EB2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13080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{F9DE31DB-2733-42D3-A664-950415FD8DC7}TF7521aafa-c748-4c40-a498-ba511be234dc5b1b6097_win32-5039330bb2f3</Template>
  <TotalTime>74</TotalTime>
  <Words>352</Words>
  <Application>Microsoft Office PowerPoint</Application>
  <PresentationFormat>Widescreen</PresentationFormat>
  <Paragraphs>63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Tenorite</vt:lpstr>
      <vt:lpstr>Custom</vt:lpstr>
      <vt:lpstr>Module 9 M. Q. Michaels Dr. Toni Farley CSD-380 Bellevue University</vt:lpstr>
      <vt:lpstr>OVERview</vt:lpstr>
      <vt:lpstr>What Is Just Culture in DevOps?</vt:lpstr>
      <vt:lpstr>Why Just Culture Matters</vt:lpstr>
      <vt:lpstr>Organizational Barriers</vt:lpstr>
      <vt:lpstr>Cultural Barriers</vt:lpstr>
      <vt:lpstr>Technical &amp; Process Barriers</vt:lpstr>
      <vt:lpstr>BARRIERS GRAPHIC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M. Quincy Michaels</dc:creator>
  <cp:lastModifiedBy>M. Quincy Michaels</cp:lastModifiedBy>
  <cp:revision>6</cp:revision>
  <dcterms:created xsi:type="dcterms:W3CDTF">2025-12-22T00:39:13Z</dcterms:created>
  <dcterms:modified xsi:type="dcterms:W3CDTF">2026-02-15T22:36:02Z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