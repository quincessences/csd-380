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81" r:id="rId7"/>
    <p:sldId id="290" r:id="rId8"/>
    <p:sldId id="286" r:id="rId9"/>
    <p:sldId id="287" r:id="rId10"/>
    <p:sldId id="288" r:id="rId11"/>
    <p:sldId id="289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655" autoAdjust="0"/>
  </p:normalViewPr>
  <p:slideViewPr>
    <p:cSldViewPr snapToGrid="0">
      <p:cViewPr varScale="1">
        <p:scale>
          <a:sx n="136" d="100"/>
          <a:sy n="136" d="100"/>
        </p:scale>
        <p:origin x="1188" y="34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30BB-8196-449E-322B-681753E8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89CF2-05AD-9512-3DEB-60D36FA6D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52B9B-D5E3-C8F1-AFF1-EE4E7EA3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9DE61-E72E-2712-DF2D-1FACDBCD4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4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4199-83CA-A6AE-03EC-DDB7A788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3C2E8-8E6D-FB44-7C82-2917F8BC9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6888E-4168-1C98-4EC2-8C963E3D9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F83D7-BD92-870C-A758-E89405D32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95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A1A2-BE94-6812-51B6-F73ACFB7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E2E-DD50-32AC-6E57-12FEA2BD8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CCD5F-A439-78FF-A30C-1A5C8B0E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DF613-D182-25F6-90AC-CD0249AA1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36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5100-741F-6207-FBC1-B1F04DAE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BF5FC-9087-F0D0-DA6E-A1943F3F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A9E62-E6C2-E5C9-8500-1DBEB0C68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853D1-78CF-7204-25D8-E8B399A5B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36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Module 1</a:t>
            </a:r>
            <a:br>
              <a:rPr lang="en-US" dirty="0"/>
            </a:br>
            <a:r>
              <a:rPr lang="en-US" sz="1100" dirty="0"/>
              <a:t>M. Q. Michaels – Module 1.2 Assignment</a:t>
            </a:r>
            <a:br>
              <a:rPr lang="en-US" sz="1100" dirty="0"/>
            </a:br>
            <a:r>
              <a:rPr lang="en-US" sz="1100" dirty="0"/>
              <a:t>Dr. Toni Farley</a:t>
            </a:r>
            <a:br>
              <a:rPr lang="en-US" sz="1100" dirty="0"/>
            </a:br>
            <a:r>
              <a:rPr lang="en-US" sz="1100" dirty="0"/>
              <a:t>CSD-380</a:t>
            </a:r>
            <a:br>
              <a:rPr lang="en-US" sz="1100" dirty="0"/>
            </a:br>
            <a:r>
              <a:rPr lang="en-US" sz="1100" dirty="0"/>
              <a:t>Bellevue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 err="1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Technology Value Stream</a:t>
            </a:r>
          </a:p>
          <a:p>
            <a:r>
              <a:rPr lang="en-US" dirty="0"/>
              <a:t>Lead Time vs. Processing Time</a:t>
            </a:r>
          </a:p>
          <a:p>
            <a:r>
              <a:rPr lang="en-US" dirty="0"/>
              <a:t>Common Lead Time Concerns</a:t>
            </a:r>
          </a:p>
          <a:p>
            <a:r>
              <a:rPr lang="en-US" dirty="0"/>
              <a:t>DevOps Ideal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What is technology value stream?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By Definition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r>
              <a:rPr lang="en-US" dirty="0"/>
              <a:t>Three main requirements</a:t>
            </a:r>
          </a:p>
          <a:p>
            <a:pPr lvl="1"/>
            <a:r>
              <a:rPr lang="en-US" dirty="0"/>
              <a:t>Start with a business proposition</a:t>
            </a:r>
          </a:p>
          <a:p>
            <a:pPr lvl="1"/>
            <a:r>
              <a:rPr lang="en-US" dirty="0"/>
              <a:t>Utilize technology to create and support a service</a:t>
            </a:r>
          </a:p>
          <a:p>
            <a:pPr lvl="1"/>
            <a:r>
              <a:rPr lang="en-US" dirty="0"/>
              <a:t>Provide value to the customer</a:t>
            </a:r>
          </a:p>
          <a:p>
            <a:endParaRPr lang="en-US" dirty="0"/>
          </a:p>
          <a:p>
            <a:r>
              <a:rPr lang="en-US" dirty="0"/>
              <a:t>Once the business objective has been defined, the work moves to development and is added to the backlog to be transformed into a feature.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3426B-CA31-32C5-E83D-7A9913AC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time vs. processing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5C426-5CD9-C83C-F7B8-95BC65F6B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9D64C-A8FA-2314-DB6E-A20010A9986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Begins when a request is made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Stops when a request is fulfilled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Includes all aspects: waiting, communication, development, handoffs, and all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full experience of a customer waiting for a feature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195ED-CDBF-A8C1-F94E-4DE8BD0CB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Processing 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87E91-8AA0-1F55-5AB7-8C93D8DABAF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Starts when work begins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Stops when a request is fulfilled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Doesn’t include idle time (i.e. no work is being done)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development time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CA78B-EB71-685B-CE7A-781E762D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5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32D8-0C38-0012-05F5-74D1CA80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4C21-CAEC-B2D7-4028-4CE9BF11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4A49C5-8B3F-668F-2BAE-93C73A606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Distinction Matters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1970E7A-5C98-2492-EF3B-3B189C3BF9E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 time reflects customer experience &amp; processing time shows active work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gaps between lead &amp; processing times lead to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gaps or focus only on processing time can lead to lost value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3AE16C-E666-2D89-E821-D1ED6BF1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8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1FE7-0F60-1BDC-F2E7-5F9C8EE9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C3A7-7D90-8B40-2862-791DEF42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Example lead vs. processing (cycle) time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98CB00-28F5-1574-B264-D6225B6B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75EEB-6031-7D21-469C-6CE86A44F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699" y="2797255"/>
            <a:ext cx="7363851" cy="29060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Visual via: https://blog.codacy.com/how-to-measure-lead-time-for-changes</a:t>
            </a:r>
          </a:p>
        </p:txBody>
      </p:sp>
      <p:pic>
        <p:nvPicPr>
          <p:cNvPr id="1028" name="Picture 4" descr="Lead time, cycle time, lead time for changes">
            <a:extLst>
              <a:ext uri="{FF2B5EF4-FFF2-40B4-BE49-F238E27FC236}">
                <a16:creationId xmlns:a16="http://schemas.microsoft.com/office/drawing/2014/main" id="{F9B38392-84B9-8482-5E51-3DEA01B19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699" y="3268099"/>
            <a:ext cx="7474150" cy="296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65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0E0F-1E55-03C6-4211-61E10E1D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A01D-16FB-087F-3D99-796B0185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Long Deployment Lead Times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271623-0F03-DAF4-013D-92E33AF8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5739032" cy="464499"/>
          </a:xfrm>
        </p:spPr>
        <p:txBody>
          <a:bodyPr>
            <a:normAutofit/>
          </a:bodyPr>
          <a:lstStyle/>
          <a:p>
            <a:r>
              <a:rPr lang="en-US" dirty="0"/>
              <a:t>Unstable value and extended crunch times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E4A82DC-775B-8736-3F55-1025F2C7578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in large organizations with complex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Commonly present in situations with multiple environments and large lead time between implementations in those (e.g., copying from TEST to QUAL to PROD environments)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Usually requires heroic late-stage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Fixing issues can take an extended amount of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to customer is unpredictable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B6C1CB-DE4A-C03E-51A4-20255A16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7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1035-03CD-F7FF-CEE6-BC14A511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64F9-3846-683D-B254-9EEDBD86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DevOps Ideal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D89098F-773A-52F4-D970-AFA0E1CA6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>
            <a:normAutofit fontScale="92500"/>
          </a:bodyPr>
          <a:lstStyle/>
          <a:p>
            <a:r>
              <a:rPr lang="en-US" dirty="0"/>
              <a:t>Lead Time of Minutes: What We Need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9B313F4E-0557-3647-AB2D-C6C39869C47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commits &amp; batch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Defined deployment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Modular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Parallel workflows – testing performed while development continues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Frequent deployments to all environments (including PROD)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C4C18D-B0AE-0731-F068-68B2C68B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5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References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4A94C7BE-6E60-66F0-EFD4-2F452B0D743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795537071"/>
              </p:ext>
            </p:extLst>
          </p:nvPr>
        </p:nvGraphicFramePr>
        <p:xfrm>
          <a:off x="838200" y="2111375"/>
          <a:ext cx="10515601" cy="336831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Date Accessed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Cycle Time vs. Lead Time: A Comprehensive 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Leah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https://itrevolution.com/articles/cycle-time-vs-lead-time/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12/20/2025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to measure Lead time for changes?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Codacy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https://blog.codacy.com/how-to-measure-lead-time-for-changes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12/20/2025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DevOps Handbook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 Kim et 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Textbook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12/20/2025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{F9DE31DB-2733-42D3-A664-950415FD8DC7}TF7521aafa-c748-4c40-a498-ba511be234dc5b1b6097_win32-5039330bb2f3</Template>
  <TotalTime>33</TotalTime>
  <Words>412</Words>
  <Application>Microsoft Office PowerPoint</Application>
  <PresentationFormat>Widescreen</PresentationFormat>
  <Paragraphs>81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Custom</vt:lpstr>
      <vt:lpstr>Module 1 M. Q. Michaels – Module 1.2 Assignment Dr. Toni Farley CSD-380 Bellevue University</vt:lpstr>
      <vt:lpstr>OVERview</vt:lpstr>
      <vt:lpstr>What is technology value stream?</vt:lpstr>
      <vt:lpstr>Lead time vs. processing time</vt:lpstr>
      <vt:lpstr>Why does it matter?</vt:lpstr>
      <vt:lpstr>Example lead vs. processing (cycle) time</vt:lpstr>
      <vt:lpstr>Long Deployment Lead Times</vt:lpstr>
      <vt:lpstr>DevOps Ideal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Quincy Michaels</dc:creator>
  <cp:lastModifiedBy>M. Quincy Michaels</cp:lastModifiedBy>
  <cp:revision>1</cp:revision>
  <dcterms:created xsi:type="dcterms:W3CDTF">2025-12-22T00:39:13Z</dcterms:created>
  <dcterms:modified xsi:type="dcterms:W3CDTF">2025-12-22T01:12:28Z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